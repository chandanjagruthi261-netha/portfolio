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4630400" cy="8229600"/>
  <p:notesSz cx="8229600" cy="14630400"/>
  <p:embeddedFontLst>
    <p:embeddedFont>
      <p:font typeface="Platypi Medium" panose="020B0604020202020204" charset="0"/>
      <p:regular r:id="rId12"/>
    </p:embeddedFont>
    <p:embeddedFont>
      <p:font typeface="Source Serif 4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12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89487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16.sv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1561171"/>
            <a:ext cx="5486400" cy="66684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89" y="2691527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ea typeface="Platypi Medium" pitchFamily="34" charset="-122"/>
                <a:cs typeface="Platypi Medium" pitchFamily="34" charset="-120"/>
              </a:rPr>
              <a:t>Smart Garbage: An AI + IoT System for Cleaner Cities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449247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ea typeface="Source Serif 4" pitchFamily="34" charset="-122"/>
                <a:cs typeface="Source Serif 4" pitchFamily="34" charset="-120"/>
              </a:rPr>
              <a:t>Concise proposal for municipal decision-makers: a connected network of smart bins, AI segregation, and route optimisation that reduces overflow, cuts emissions and stretches collection budgets.</a:t>
            </a:r>
            <a:endParaRPr lang="en-US" sz="175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937D61-CAED-E8B1-16E5-F75737EA3931}"/>
              </a:ext>
            </a:extLst>
          </p:cNvPr>
          <p:cNvSpPr txBox="1"/>
          <p:nvPr/>
        </p:nvSpPr>
        <p:spPr>
          <a:xfrm>
            <a:off x="1873405" y="301082"/>
            <a:ext cx="1254512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/>
              <a:t>MALLA REDDY ENGINEERING COLLEGE FOR WOMEN</a:t>
            </a:r>
            <a:endParaRPr lang="en-IN" sz="4800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2D475BD6-B3F8-1DB5-15B4-35D8C9B4F0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406" y="419162"/>
            <a:ext cx="1333500" cy="133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50C8CD3-E408-4318-0802-2B9963062C49}"/>
              </a:ext>
            </a:extLst>
          </p:cNvPr>
          <p:cNvSpPr txBox="1"/>
          <p:nvPr/>
        </p:nvSpPr>
        <p:spPr>
          <a:xfrm>
            <a:off x="5528952" y="6233311"/>
            <a:ext cx="28212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A.Akarsha-25RH1A6607</a:t>
            </a:r>
          </a:p>
          <a:p>
            <a:r>
              <a:rPr lang="en-US" dirty="0"/>
              <a:t>C.Jagruthi-25RH1A6645</a:t>
            </a:r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2241" y="643890"/>
            <a:ext cx="9828252" cy="558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500" dirty="0">
                <a:solidFill>
                  <a:srgbClr val="201B18"/>
                </a:solidFill>
                <a:ea typeface="Platypi Medium" pitchFamily="34" charset="-122"/>
                <a:cs typeface="Platypi Medium" pitchFamily="34" charset="-120"/>
              </a:rPr>
              <a:t>Problem Statement — Why Change Is Urgent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782241" y="1761768"/>
            <a:ext cx="111681" cy="111681"/>
          </a:xfrm>
          <a:prstGeom prst="roundRect">
            <a:avLst>
              <a:gd name="adj" fmla="val 409380"/>
            </a:avLst>
          </a:prstGeom>
          <a:solidFill>
            <a:srgbClr val="3E2513"/>
          </a:solidFill>
          <a:ln/>
        </p:spPr>
      </p:sp>
      <p:sp>
        <p:nvSpPr>
          <p:cNvPr id="4" name="Text 2"/>
          <p:cNvSpPr/>
          <p:nvPr/>
        </p:nvSpPr>
        <p:spPr>
          <a:xfrm>
            <a:off x="1114068" y="1643063"/>
            <a:ext cx="2793921" cy="34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504C49"/>
                </a:solidFill>
                <a:ea typeface="Platypi Medium" pitchFamily="34" charset="-122"/>
                <a:cs typeface="Platypi Medium" pitchFamily="34" charset="-120"/>
              </a:rPr>
              <a:t>Overflow &amp; Health</a:t>
            </a:r>
            <a:endParaRPr lang="en-US" sz="2150" dirty="0"/>
          </a:p>
        </p:txBody>
      </p:sp>
      <p:sp>
        <p:nvSpPr>
          <p:cNvPr id="5" name="Text 3"/>
          <p:cNvSpPr/>
          <p:nvPr/>
        </p:nvSpPr>
        <p:spPr>
          <a:xfrm>
            <a:off x="1114068" y="2124313"/>
            <a:ext cx="12734092" cy="354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504C49"/>
                </a:solidFill>
                <a:ea typeface="Source Serif 4" pitchFamily="34" charset="-122"/>
                <a:cs typeface="Source Serif 4" pitchFamily="34" charset="-120"/>
              </a:rPr>
              <a:t>Bins frequently overflow before collection, creating hygiene, pest and odour issues.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82241" y="3038356"/>
            <a:ext cx="111681" cy="111681"/>
          </a:xfrm>
          <a:prstGeom prst="roundRect">
            <a:avLst>
              <a:gd name="adj" fmla="val 409380"/>
            </a:avLst>
          </a:prstGeom>
          <a:solidFill>
            <a:srgbClr val="3E2513"/>
          </a:solidFill>
          <a:ln/>
        </p:spPr>
      </p:sp>
      <p:sp>
        <p:nvSpPr>
          <p:cNvPr id="7" name="Text 5"/>
          <p:cNvSpPr/>
          <p:nvPr/>
        </p:nvSpPr>
        <p:spPr>
          <a:xfrm>
            <a:off x="1114068" y="2919651"/>
            <a:ext cx="2793921" cy="34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504C49"/>
                </a:solidFill>
                <a:ea typeface="Platypi Medium" pitchFamily="34" charset="-122"/>
                <a:cs typeface="Platypi Medium" pitchFamily="34" charset="-120"/>
              </a:rPr>
              <a:t>Lack of Visibility</a:t>
            </a:r>
            <a:endParaRPr lang="en-US" sz="2150" dirty="0"/>
          </a:p>
        </p:txBody>
      </p:sp>
      <p:sp>
        <p:nvSpPr>
          <p:cNvPr id="8" name="Text 6"/>
          <p:cNvSpPr/>
          <p:nvPr/>
        </p:nvSpPr>
        <p:spPr>
          <a:xfrm>
            <a:off x="1114068" y="3400901"/>
            <a:ext cx="12734092" cy="354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504C49"/>
                </a:solidFill>
                <a:ea typeface="Source Serif 4" pitchFamily="34" charset="-122"/>
                <a:cs typeface="Source Serif 4" pitchFamily="34" charset="-120"/>
              </a:rPr>
              <a:t>No real-time monitoring or alerts; collections are reactive, not data-driven.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82241" y="4314944"/>
            <a:ext cx="111681" cy="111681"/>
          </a:xfrm>
          <a:prstGeom prst="roundRect">
            <a:avLst>
              <a:gd name="adj" fmla="val 409380"/>
            </a:avLst>
          </a:prstGeom>
          <a:solidFill>
            <a:srgbClr val="3E2513"/>
          </a:solidFill>
          <a:ln/>
        </p:spPr>
      </p:sp>
      <p:sp>
        <p:nvSpPr>
          <p:cNvPr id="10" name="Text 8"/>
          <p:cNvSpPr/>
          <p:nvPr/>
        </p:nvSpPr>
        <p:spPr>
          <a:xfrm>
            <a:off x="1114068" y="4196239"/>
            <a:ext cx="2793921" cy="34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504C49"/>
                </a:solidFill>
                <a:ea typeface="Platypi Medium" pitchFamily="34" charset="-122"/>
                <a:cs typeface="Platypi Medium" pitchFamily="34" charset="-120"/>
              </a:rPr>
              <a:t>Poor Segregation</a:t>
            </a:r>
            <a:endParaRPr lang="en-US" sz="2150" dirty="0"/>
          </a:p>
        </p:txBody>
      </p:sp>
      <p:sp>
        <p:nvSpPr>
          <p:cNvPr id="11" name="Text 9"/>
          <p:cNvSpPr/>
          <p:nvPr/>
        </p:nvSpPr>
        <p:spPr>
          <a:xfrm>
            <a:off x="1114068" y="4677489"/>
            <a:ext cx="12734092" cy="354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504C49"/>
                </a:solidFill>
                <a:ea typeface="Source Serif 4" pitchFamily="34" charset="-122"/>
                <a:cs typeface="Source Serif 4" pitchFamily="34" charset="-120"/>
              </a:rPr>
              <a:t>No effective source segregation → higher processing costs and lower recycling rates.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82241" y="5591532"/>
            <a:ext cx="111681" cy="111681"/>
          </a:xfrm>
          <a:prstGeom prst="roundRect">
            <a:avLst>
              <a:gd name="adj" fmla="val 409380"/>
            </a:avLst>
          </a:prstGeom>
          <a:solidFill>
            <a:srgbClr val="3E2513"/>
          </a:solidFill>
          <a:ln/>
        </p:spPr>
      </p:sp>
      <p:sp>
        <p:nvSpPr>
          <p:cNvPr id="13" name="Text 11"/>
          <p:cNvSpPr/>
          <p:nvPr/>
        </p:nvSpPr>
        <p:spPr>
          <a:xfrm>
            <a:off x="1114068" y="5472827"/>
            <a:ext cx="3021211" cy="34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504C49"/>
                </a:solidFill>
                <a:ea typeface="Platypi Medium" pitchFamily="34" charset="-122"/>
                <a:cs typeface="Platypi Medium" pitchFamily="34" charset="-120"/>
              </a:rPr>
              <a:t>Inefficient Collections</a:t>
            </a:r>
            <a:endParaRPr lang="en-US" sz="2150" dirty="0"/>
          </a:p>
        </p:txBody>
      </p:sp>
      <p:sp>
        <p:nvSpPr>
          <p:cNvPr id="14" name="Text 12"/>
          <p:cNvSpPr/>
          <p:nvPr/>
        </p:nvSpPr>
        <p:spPr>
          <a:xfrm>
            <a:off x="1114068" y="5954078"/>
            <a:ext cx="12734092" cy="354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504C49"/>
                </a:solidFill>
                <a:ea typeface="Source Serif 4" pitchFamily="34" charset="-122"/>
                <a:cs typeface="Source Serif 4" pitchFamily="34" charset="-120"/>
              </a:rPr>
              <a:t>Trucks run fixed routes regardless of need, wasting fuel and labour.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82241" y="6868120"/>
            <a:ext cx="111681" cy="111681"/>
          </a:xfrm>
          <a:prstGeom prst="roundRect">
            <a:avLst>
              <a:gd name="adj" fmla="val 409380"/>
            </a:avLst>
          </a:prstGeom>
          <a:solidFill>
            <a:srgbClr val="3E2513"/>
          </a:solidFill>
          <a:ln/>
        </p:spPr>
      </p:sp>
      <p:sp>
        <p:nvSpPr>
          <p:cNvPr id="16" name="Text 14"/>
          <p:cNvSpPr/>
          <p:nvPr/>
        </p:nvSpPr>
        <p:spPr>
          <a:xfrm>
            <a:off x="1114068" y="6749415"/>
            <a:ext cx="2793921" cy="34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504C49"/>
                </a:solidFill>
                <a:ea typeface="Platypi Medium" pitchFamily="34" charset="-122"/>
                <a:cs typeface="Platypi Medium" pitchFamily="34" charset="-120"/>
              </a:rPr>
              <a:t>No Analytics</a:t>
            </a:r>
            <a:endParaRPr lang="en-US" sz="2150" dirty="0"/>
          </a:p>
        </p:txBody>
      </p:sp>
      <p:sp>
        <p:nvSpPr>
          <p:cNvPr id="17" name="Text 15"/>
          <p:cNvSpPr/>
          <p:nvPr/>
        </p:nvSpPr>
        <p:spPr>
          <a:xfrm>
            <a:off x="1114068" y="7230666"/>
            <a:ext cx="12734092" cy="354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504C49"/>
                </a:solidFill>
                <a:ea typeface="Source Serif 4" pitchFamily="34" charset="-122"/>
                <a:cs typeface="Source Serif 4" pitchFamily="34" charset="-120"/>
              </a:rPr>
              <a:t>Absence of data prevents performance tracking and predictive planning.</a:t>
            </a:r>
            <a:endParaRPr lang="en-US" sz="17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0689" y="654844"/>
            <a:ext cx="7642622" cy="10722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350" dirty="0">
                <a:solidFill>
                  <a:srgbClr val="201B18"/>
                </a:solidFill>
                <a:ea typeface="Platypi Medium" pitchFamily="34" charset="-122"/>
                <a:cs typeface="Platypi Medium" pitchFamily="34" charset="-120"/>
              </a:rPr>
              <a:t>System Components — Smart Bin Hardware</a:t>
            </a:r>
            <a:endParaRPr lang="en-US" sz="3350" dirty="0"/>
          </a:p>
        </p:txBody>
      </p:sp>
      <p:sp>
        <p:nvSpPr>
          <p:cNvPr id="4" name="Text 1"/>
          <p:cNvSpPr/>
          <p:nvPr/>
        </p:nvSpPr>
        <p:spPr>
          <a:xfrm>
            <a:off x="750689" y="2031325"/>
            <a:ext cx="7642622" cy="667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504C49"/>
                </a:solidFill>
                <a:ea typeface="Source Serif 4" pitchFamily="34" charset="-122"/>
                <a:cs typeface="Source Serif 4" pitchFamily="34" charset="-120"/>
              </a:rPr>
              <a:t>Robust, field-tested sensors and connectivity for accurate, reliable telemetry.</a:t>
            </a:r>
            <a:endParaRPr lang="en-US" sz="1650" dirty="0"/>
          </a:p>
        </p:txBody>
      </p:sp>
      <p:sp>
        <p:nvSpPr>
          <p:cNvPr id="5" name="Shape 2"/>
          <p:cNvSpPr/>
          <p:nvPr/>
        </p:nvSpPr>
        <p:spPr>
          <a:xfrm>
            <a:off x="750689" y="2927152"/>
            <a:ext cx="2412325" cy="2891433"/>
          </a:xfrm>
          <a:prstGeom prst="roundRect">
            <a:avLst>
              <a:gd name="adj" fmla="val 1334"/>
            </a:avLst>
          </a:prstGeom>
          <a:solidFill>
            <a:srgbClr val="F9F7F7"/>
          </a:solidFill>
          <a:ln/>
        </p:spPr>
      </p:sp>
      <p:sp>
        <p:nvSpPr>
          <p:cNvPr id="6" name="Text 3"/>
          <p:cNvSpPr/>
          <p:nvPr/>
        </p:nvSpPr>
        <p:spPr>
          <a:xfrm>
            <a:off x="965121" y="3141583"/>
            <a:ext cx="1983462" cy="670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504C49"/>
                </a:solidFill>
                <a:ea typeface="Platypi Medium" pitchFamily="34" charset="-122"/>
                <a:cs typeface="Platypi Medium" pitchFamily="34" charset="-120"/>
              </a:rPr>
              <a:t>Ultrasonic Sensor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965121" y="3933587"/>
            <a:ext cx="1983462" cy="1001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504C49"/>
                </a:solidFill>
                <a:ea typeface="Source Serif 4" pitchFamily="34" charset="-122"/>
                <a:cs typeface="Source Serif 4" pitchFamily="34" charset="-120"/>
              </a:rPr>
              <a:t>Real-time fill-level detection (distance → percentage).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3365778" y="2927152"/>
            <a:ext cx="2412325" cy="2891433"/>
          </a:xfrm>
          <a:prstGeom prst="roundRect">
            <a:avLst>
              <a:gd name="adj" fmla="val 1334"/>
            </a:avLst>
          </a:prstGeom>
          <a:solidFill>
            <a:srgbClr val="F9F7F7"/>
          </a:solidFill>
          <a:ln/>
        </p:spPr>
      </p:sp>
      <p:sp>
        <p:nvSpPr>
          <p:cNvPr id="9" name="Text 6"/>
          <p:cNvSpPr/>
          <p:nvPr/>
        </p:nvSpPr>
        <p:spPr>
          <a:xfrm>
            <a:off x="3580209" y="3141583"/>
            <a:ext cx="1983462" cy="10054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504C49"/>
                </a:solidFill>
                <a:ea typeface="Platypi Medium" pitchFamily="34" charset="-122"/>
                <a:cs typeface="Platypi Medium" pitchFamily="34" charset="-120"/>
              </a:rPr>
              <a:t>Gas &amp; Moisture Sensors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3580209" y="4268748"/>
            <a:ext cx="1983462" cy="1335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504C49"/>
                </a:solidFill>
                <a:ea typeface="Source Serif 4" pitchFamily="34" charset="-122"/>
                <a:cs typeface="Source Serif 4" pitchFamily="34" charset="-120"/>
              </a:rPr>
              <a:t>Detect harmful gases &amp; identify wet/organic waste signatures.</a:t>
            </a:r>
            <a:endParaRPr lang="en-US" sz="1650" dirty="0"/>
          </a:p>
        </p:txBody>
      </p:sp>
      <p:sp>
        <p:nvSpPr>
          <p:cNvPr id="11" name="Shape 8"/>
          <p:cNvSpPr/>
          <p:nvPr/>
        </p:nvSpPr>
        <p:spPr>
          <a:xfrm>
            <a:off x="5980867" y="2927152"/>
            <a:ext cx="2412325" cy="2891433"/>
          </a:xfrm>
          <a:prstGeom prst="roundRect">
            <a:avLst>
              <a:gd name="adj" fmla="val 1334"/>
            </a:avLst>
          </a:prstGeom>
          <a:solidFill>
            <a:srgbClr val="F9F7F7"/>
          </a:solidFill>
          <a:ln/>
        </p:spPr>
      </p:sp>
      <p:sp>
        <p:nvSpPr>
          <p:cNvPr id="12" name="Text 9"/>
          <p:cNvSpPr/>
          <p:nvPr/>
        </p:nvSpPr>
        <p:spPr>
          <a:xfrm>
            <a:off x="6195298" y="3141583"/>
            <a:ext cx="1983462" cy="335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504C49"/>
                </a:solidFill>
                <a:ea typeface="Platypi Medium" pitchFamily="34" charset="-122"/>
                <a:cs typeface="Platypi Medium" pitchFamily="34" charset="-120"/>
              </a:rPr>
              <a:t>Load Cell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6195298" y="3598426"/>
            <a:ext cx="1983462" cy="1335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504C49"/>
                </a:solidFill>
                <a:ea typeface="Source Serif 4" pitchFamily="34" charset="-122"/>
                <a:cs typeface="Source Serif 4" pitchFamily="34" charset="-120"/>
              </a:rPr>
              <a:t>Measures weight to corroborate volume and detect illegal dumping.</a:t>
            </a:r>
            <a:endParaRPr lang="en-US" sz="1650" dirty="0"/>
          </a:p>
        </p:txBody>
      </p:sp>
      <p:sp>
        <p:nvSpPr>
          <p:cNvPr id="14" name="Shape 11"/>
          <p:cNvSpPr/>
          <p:nvPr/>
        </p:nvSpPr>
        <p:spPr>
          <a:xfrm>
            <a:off x="750689" y="6021348"/>
            <a:ext cx="7642503" cy="1553408"/>
          </a:xfrm>
          <a:prstGeom prst="roundRect">
            <a:avLst>
              <a:gd name="adj" fmla="val 2071"/>
            </a:avLst>
          </a:prstGeom>
          <a:solidFill>
            <a:srgbClr val="F9F7F7"/>
          </a:solidFill>
          <a:ln/>
        </p:spPr>
      </p:sp>
      <p:sp>
        <p:nvSpPr>
          <p:cNvPr id="15" name="Text 12"/>
          <p:cNvSpPr/>
          <p:nvPr/>
        </p:nvSpPr>
        <p:spPr>
          <a:xfrm>
            <a:off x="965121" y="6235779"/>
            <a:ext cx="2681407" cy="335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504C49"/>
                </a:solidFill>
                <a:ea typeface="Platypi Medium" pitchFamily="34" charset="-122"/>
                <a:cs typeface="Platypi Medium" pitchFamily="34" charset="-120"/>
              </a:rPr>
              <a:t>Connectivity</a:t>
            </a:r>
            <a:endParaRPr lang="en-US" sz="2100" dirty="0"/>
          </a:p>
        </p:txBody>
      </p:sp>
      <p:sp>
        <p:nvSpPr>
          <p:cNvPr id="16" name="Text 13"/>
          <p:cNvSpPr/>
          <p:nvPr/>
        </p:nvSpPr>
        <p:spPr>
          <a:xfrm>
            <a:off x="965121" y="6692622"/>
            <a:ext cx="7213640" cy="667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504C49"/>
                </a:solidFill>
                <a:ea typeface="Source Serif 4" pitchFamily="34" charset="-122"/>
                <a:cs typeface="Source Serif 4" pitchFamily="34" charset="-120"/>
              </a:rPr>
              <a:t>ESP8266 / GSM modules send secure packets to cloud when thresholds cross.</a:t>
            </a:r>
            <a:endParaRPr lang="en-US" sz="16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2955" y="615077"/>
            <a:ext cx="6214229" cy="5592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dirty="0">
                <a:solidFill>
                  <a:srgbClr val="201B18"/>
                </a:solidFill>
                <a:ea typeface="Platypi Medium" pitchFamily="34" charset="-122"/>
                <a:cs typeface="Platypi Medium" pitchFamily="34" charset="-120"/>
              </a:rPr>
              <a:t>AI-Based Waste Segregation</a:t>
            </a:r>
            <a:endParaRPr lang="en-US" sz="3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955" y="1753314"/>
            <a:ext cx="4217789" cy="562367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554147" y="3383161"/>
            <a:ext cx="8300799" cy="1066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504C49"/>
                </a:solidFill>
                <a:ea typeface="Source Serif 4" pitchFamily="34" charset="-122"/>
                <a:cs typeface="Source Serif 4" pitchFamily="34" charset="-120"/>
              </a:rPr>
              <a:t>Camera module with lightweight image-classification model runs locally or at edge. The model recognises common items (plastic, metal, paper, organic) and triggers an automatic flap to route waste to the correct compartment.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5554147" y="4647843"/>
            <a:ext cx="8300799" cy="1220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50" dirty="0">
                <a:solidFill>
                  <a:srgbClr val="504C49"/>
                </a:solidFill>
                <a:ea typeface="Source Serif 4" pitchFamily="34" charset="-122"/>
                <a:cs typeface="Source Serif 4" pitchFamily="34" charset="-120"/>
              </a:rPr>
              <a:t>Low-latency inference on-device or micro-edge cluster</a:t>
            </a:r>
            <a:endParaRPr lang="en-US" sz="1750" dirty="0"/>
          </a:p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50" dirty="0">
                <a:solidFill>
                  <a:srgbClr val="504C49"/>
                </a:solidFill>
                <a:ea typeface="Source Serif 4" pitchFamily="34" charset="-122"/>
                <a:cs typeface="Source Serif 4" pitchFamily="34" charset="-120"/>
              </a:rPr>
              <a:t>Periodic model updates using anonymised municipal images</a:t>
            </a:r>
            <a:endParaRPr lang="en-US" sz="1750" dirty="0"/>
          </a:p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50" dirty="0">
                <a:solidFill>
                  <a:srgbClr val="504C49"/>
                </a:solidFill>
                <a:ea typeface="Source Serif 4" pitchFamily="34" charset="-122"/>
                <a:cs typeface="Source Serif 4" pitchFamily="34" charset="-120"/>
              </a:rPr>
              <a:t>Fallback sensors (moisture, weight) to reduce misclassification</a:t>
            </a:r>
            <a:endParaRPr lang="en-US" sz="17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flash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86564"/>
            <a:ext cx="790658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201B18"/>
                </a:solidFill>
                <a:ea typeface="Platypi Medium" pitchFamily="34" charset="-122"/>
                <a:cs typeface="Platypi Medium" pitchFamily="34" charset="-120"/>
              </a:rPr>
              <a:t>Operational Dashboard &amp; Analytics</a:t>
            </a:r>
            <a:endParaRPr lang="en-US" sz="35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248853"/>
            <a:ext cx="8284131" cy="4639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38943" y="2634853"/>
            <a:ext cx="4205168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ea typeface="Source Serif 4" pitchFamily="34" charset="-122"/>
                <a:cs typeface="Source Serif 4" pitchFamily="34" charset="-120"/>
              </a:rPr>
              <a:t>The web/app dashboard displays live bin-fill percentages, geo‑locations, historical trends and CO₂-equivalent savings. Features: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9638943" y="4290536"/>
            <a:ext cx="4205168" cy="23360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04C49"/>
                </a:solidFill>
                <a:ea typeface="Source Serif 4" pitchFamily="34" charset="-122"/>
                <a:cs typeface="Source Serif 4" pitchFamily="34" charset="-120"/>
              </a:rPr>
              <a:t>Custom alerts when bins exceed thresholds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04C49"/>
                </a:solidFill>
                <a:ea typeface="Source Serif 4" pitchFamily="34" charset="-122"/>
                <a:cs typeface="Source Serif 4" pitchFamily="34" charset="-120"/>
              </a:rPr>
              <a:t>Heatmaps of hotspot zones and seasonal trends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04C49"/>
                </a:solidFill>
                <a:ea typeface="Source Serif 4" pitchFamily="34" charset="-122"/>
                <a:cs typeface="Source Serif 4" pitchFamily="34" charset="-120"/>
              </a:rPr>
              <a:t>Role-based access for field crews and managers</a:t>
            </a:r>
            <a:endParaRPr lang="en-US" sz="17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759875"/>
            <a:ext cx="839354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201B18"/>
                </a:solidFill>
                <a:ea typeface="Platypi Medium" pitchFamily="34" charset="-122"/>
                <a:cs typeface="Platypi Medium" pitchFamily="34" charset="-120"/>
              </a:rPr>
              <a:t>Route Optimisation &amp; Field Efficiency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793790" y="4667012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ea typeface="Source Serif 4" pitchFamily="34" charset="-122"/>
                <a:cs typeface="Source Serif 4" pitchFamily="34" charset="-120"/>
              </a:rPr>
              <a:t>Dynamic routing uses fill-threshold triggers (&gt;80% full), Google Maps API and shortest-path algorithms to produce fuel- and time-efficient runs. Benefits: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793790" y="5647968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9F7F7"/>
          </a:solidFill>
          <a:ln/>
        </p:spPr>
      </p:sp>
      <p:sp>
        <p:nvSpPr>
          <p:cNvPr id="6" name="Text 3"/>
          <p:cNvSpPr/>
          <p:nvPr/>
        </p:nvSpPr>
        <p:spPr>
          <a:xfrm>
            <a:off x="1530906" y="57258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ea typeface="Platypi Medium" pitchFamily="34" charset="-122"/>
                <a:cs typeface="Platypi Medium" pitchFamily="34" charset="-120"/>
              </a:rPr>
              <a:t>Selective Visits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530906" y="6216253"/>
            <a:ext cx="342149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ea typeface="Source Serif 4" pitchFamily="34" charset="-122"/>
                <a:cs typeface="Source Serif 4" pitchFamily="34" charset="-120"/>
              </a:rPr>
              <a:t>Only service bins that require collection, reducing idle miles.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5235893" y="5647968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9F7F7"/>
          </a:solidFill>
          <a:ln/>
        </p:spPr>
      </p:sp>
      <p:sp>
        <p:nvSpPr>
          <p:cNvPr id="9" name="Text 6"/>
          <p:cNvSpPr/>
          <p:nvPr/>
        </p:nvSpPr>
        <p:spPr>
          <a:xfrm>
            <a:off x="5973008" y="5725835"/>
            <a:ext cx="298644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ea typeface="Platypi Medium" pitchFamily="34" charset="-122"/>
                <a:cs typeface="Platypi Medium" pitchFamily="34" charset="-120"/>
              </a:rPr>
              <a:t>Predictive Scheduling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5973008" y="6216253"/>
            <a:ext cx="342149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ea typeface="Source Serif 4" pitchFamily="34" charset="-122"/>
                <a:cs typeface="Source Serif 4" pitchFamily="34" charset="-120"/>
              </a:rPr>
              <a:t>AI forecasts near-future fill states so crews pre-plan shifts and vehicles.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9677995" y="5647968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9F7F7"/>
          </a:solidFill>
          <a:ln/>
        </p:spPr>
      </p:sp>
      <p:sp>
        <p:nvSpPr>
          <p:cNvPr id="12" name="Text 9"/>
          <p:cNvSpPr/>
          <p:nvPr/>
        </p:nvSpPr>
        <p:spPr>
          <a:xfrm>
            <a:off x="10415111" y="57258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ea typeface="Platypi Medium" pitchFamily="34" charset="-122"/>
                <a:cs typeface="Platypi Medium" pitchFamily="34" charset="-120"/>
              </a:rPr>
              <a:t>Operational Savings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10415111" y="6216253"/>
            <a:ext cx="342149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ea typeface="Source Serif 4" pitchFamily="34" charset="-122"/>
                <a:cs typeface="Source Serif 4" pitchFamily="34" charset="-120"/>
              </a:rPr>
              <a:t>Lower fuel costs, fewer vehicle hours and improved truck utilisation.</a:t>
            </a:r>
            <a:endParaRPr lang="en-US" sz="17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4618" y="525780"/>
            <a:ext cx="6151126" cy="475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00"/>
              </a:lnSpc>
              <a:buNone/>
            </a:pPr>
            <a:r>
              <a:rPr lang="en-US" sz="2950" dirty="0">
                <a:solidFill>
                  <a:srgbClr val="201B18"/>
                </a:solidFill>
                <a:ea typeface="Platypi Medium" pitchFamily="34" charset="-122"/>
                <a:cs typeface="Platypi Medium" pitchFamily="34" charset="-120"/>
              </a:rPr>
              <a:t>Innovation &amp; Value‑Add Features</a:t>
            </a:r>
            <a:endParaRPr lang="en-US" sz="2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238" y="1443395"/>
            <a:ext cx="4267200" cy="42672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1481" y="1443395"/>
            <a:ext cx="4267319" cy="4267319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0843" y="1443395"/>
            <a:ext cx="4267319" cy="4267319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754618" y="6013609"/>
            <a:ext cx="13121164" cy="279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50" dirty="0">
                <a:solidFill>
                  <a:srgbClr val="504C49"/>
                </a:solidFill>
                <a:ea typeface="Source Serif 4" pitchFamily="34" charset="-122"/>
                <a:cs typeface="Source Serif 4" pitchFamily="34" charset="-120"/>
              </a:rPr>
              <a:t>Judge‑pleasing innovations that increase engagement and sustainability:</a:t>
            </a:r>
            <a:endParaRPr lang="en-US" sz="1450" dirty="0"/>
          </a:p>
        </p:txBody>
      </p:sp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54618" y="6472476"/>
            <a:ext cx="475298" cy="475298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1429107" y="6472476"/>
            <a:ext cx="2376964" cy="2970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504C49"/>
                </a:solidFill>
                <a:ea typeface="Platypi Medium" pitchFamily="34" charset="-122"/>
                <a:cs typeface="Platypi Medium" pitchFamily="34" charset="-120"/>
              </a:rPr>
              <a:t>Overflow Prediction</a:t>
            </a:r>
            <a:endParaRPr lang="en-US" sz="1850" dirty="0"/>
          </a:p>
        </p:txBody>
      </p:sp>
      <p:sp>
        <p:nvSpPr>
          <p:cNvPr id="9" name="Text 3"/>
          <p:cNvSpPr/>
          <p:nvPr/>
        </p:nvSpPr>
        <p:spPr>
          <a:xfrm>
            <a:off x="1429107" y="6865144"/>
            <a:ext cx="3566398" cy="838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50" dirty="0">
                <a:solidFill>
                  <a:srgbClr val="504C49"/>
                </a:solidFill>
                <a:ea typeface="Source Serif 4" pitchFamily="34" charset="-122"/>
                <a:cs typeface="Source Serif 4" pitchFamily="34" charset="-120"/>
              </a:rPr>
              <a:t>Machine learning predicts overflow risk 24–72 hours ahead for proactive action.</a:t>
            </a:r>
            <a:endParaRPr lang="en-US" sz="1450" dirty="0"/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194697" y="6472476"/>
            <a:ext cx="475298" cy="475298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5869186" y="6472476"/>
            <a:ext cx="2468047" cy="2970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504C49"/>
                </a:solidFill>
                <a:ea typeface="Platypi Medium" pitchFamily="34" charset="-122"/>
                <a:cs typeface="Platypi Medium" pitchFamily="34" charset="-120"/>
              </a:rPr>
              <a:t>Waste Heat Recovery</a:t>
            </a:r>
            <a:endParaRPr lang="en-US" sz="1850" dirty="0"/>
          </a:p>
        </p:txBody>
      </p:sp>
      <p:sp>
        <p:nvSpPr>
          <p:cNvPr id="12" name="Text 5"/>
          <p:cNvSpPr/>
          <p:nvPr/>
        </p:nvSpPr>
        <p:spPr>
          <a:xfrm>
            <a:off x="5869186" y="6865144"/>
            <a:ext cx="3566398" cy="838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50" dirty="0">
                <a:solidFill>
                  <a:srgbClr val="504C49"/>
                </a:solidFill>
                <a:ea typeface="Source Serif 4" pitchFamily="34" charset="-122"/>
                <a:cs typeface="Source Serif 4" pitchFamily="34" charset="-120"/>
              </a:rPr>
              <a:t>Localised systems convert organic heat into small-scale energy for street lighting or bin heating.</a:t>
            </a:r>
            <a:endParaRPr lang="en-US" sz="1450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634776" y="6472476"/>
            <a:ext cx="475298" cy="475298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10309265" y="6472476"/>
            <a:ext cx="2376964" cy="2970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504C49"/>
                </a:solidFill>
                <a:ea typeface="Platypi Medium" pitchFamily="34" charset="-122"/>
                <a:cs typeface="Platypi Medium" pitchFamily="34" charset="-120"/>
              </a:rPr>
              <a:t>Citizen Rewards</a:t>
            </a:r>
            <a:endParaRPr lang="en-US" sz="1850" dirty="0"/>
          </a:p>
        </p:txBody>
      </p:sp>
      <p:sp>
        <p:nvSpPr>
          <p:cNvPr id="15" name="Text 7"/>
          <p:cNvSpPr/>
          <p:nvPr/>
        </p:nvSpPr>
        <p:spPr>
          <a:xfrm>
            <a:off x="10309265" y="6865144"/>
            <a:ext cx="3566398" cy="838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50" dirty="0">
                <a:solidFill>
                  <a:srgbClr val="504C49"/>
                </a:solidFill>
                <a:ea typeface="Source Serif 4" pitchFamily="34" charset="-122"/>
                <a:cs typeface="Source Serif 4" pitchFamily="34" charset="-120"/>
              </a:rPr>
              <a:t>QR-based points for correct segregation, redeemable for municipal incentives.</a:t>
            </a:r>
            <a:endParaRPr lang="en-US" sz="14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8299" y="626388"/>
            <a:ext cx="9510117" cy="484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050" dirty="0">
                <a:solidFill>
                  <a:srgbClr val="201B18"/>
                </a:solidFill>
                <a:ea typeface="Platypi Medium" pitchFamily="34" charset="-122"/>
                <a:cs typeface="Platypi Medium" pitchFamily="34" charset="-120"/>
              </a:rPr>
              <a:t>Campaign: Waste Credit Score — Social Incentives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678299" y="2274927"/>
            <a:ext cx="4338518" cy="143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504C49"/>
                </a:solidFill>
                <a:ea typeface="Source Serif 4" pitchFamily="34" charset="-122"/>
                <a:cs typeface="Source Serif 4" pitchFamily="34" charset="-120"/>
              </a:rPr>
              <a:t>Introduce a “Waste Credit Score”: citizens earn eco-points for correct segregation verified by bin sensors and occasional camera validation. Points can be redeemed for municipal benefits.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78299" y="3861554"/>
            <a:ext cx="4338518" cy="1840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504C49"/>
                </a:solidFill>
                <a:ea typeface="Source Serif 4" pitchFamily="34" charset="-122"/>
                <a:cs typeface="Source Serif 4" pitchFamily="34" charset="-120"/>
              </a:rPr>
              <a:t>Rewards: electricity bill discounts, metro coupons, educational certificates</a:t>
            </a:r>
            <a:endParaRPr lang="en-US" sz="1500" dirty="0"/>
          </a:p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504C49"/>
                </a:solidFill>
                <a:ea typeface="Source Serif 4" pitchFamily="34" charset="-122"/>
                <a:cs typeface="Source Serif 4" pitchFamily="34" charset="-120"/>
              </a:rPr>
              <a:t>Transparency: anonymised scoring and public leaderboards for neighbourhoods</a:t>
            </a:r>
            <a:endParaRPr lang="en-US" sz="1500" dirty="0"/>
          </a:p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504C49"/>
                </a:solidFill>
                <a:ea typeface="Source Serif 4" pitchFamily="34" charset="-122"/>
                <a:cs typeface="Source Serif 4" pitchFamily="34" charset="-120"/>
              </a:rPr>
              <a:t>Behavioural impact: encourages sustained good habits and increases diversion rates</a:t>
            </a:r>
            <a:endParaRPr lang="en-US" sz="15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7116" y="1545550"/>
            <a:ext cx="8462486" cy="479536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78299" y="6810130"/>
            <a:ext cx="13273802" cy="31790"/>
          </a:xfrm>
          <a:prstGeom prst="rect">
            <a:avLst/>
          </a:prstGeom>
          <a:solidFill>
            <a:srgbClr val="504C49">
              <a:alpha val="5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678299" y="7028021"/>
            <a:ext cx="13273802" cy="57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504C49"/>
                </a:solidFill>
                <a:ea typeface="Source Serif 4" pitchFamily="34" charset="-122"/>
                <a:cs typeface="Source Serif 4" pitchFamily="34" charset="-120"/>
              </a:rPr>
              <a:t>Next steps:</a:t>
            </a:r>
            <a:r>
              <a:rPr lang="en-US" sz="1500" dirty="0">
                <a:solidFill>
                  <a:srgbClr val="504C49"/>
                </a:solidFill>
                <a:ea typeface="Source Serif 4" pitchFamily="34" charset="-122"/>
                <a:cs typeface="Source Serif 4" pitchFamily="34" charset="-120"/>
              </a:rPr>
              <a:t> Pilot 50 bins across diverse neighbourhoods for 3 months → measure overflow reduction, collection miles saved and citizen engagement → scale city-wide based on KPIs.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8461" y="4114799"/>
            <a:ext cx="4562832" cy="1471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80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Thank You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1018461" y="1440061"/>
            <a:ext cx="6074093" cy="1053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18461" y="2626162"/>
            <a:ext cx="6074093" cy="790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18461" y="3548777"/>
            <a:ext cx="6074093" cy="790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endParaRPr lang="en-US" sz="1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5467" y="1473041"/>
            <a:ext cx="6074093" cy="60740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560</Words>
  <Application>Microsoft Office PowerPoint</Application>
  <PresentationFormat>Custom</PresentationFormat>
  <Paragraphs>68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Source Serif 4</vt:lpstr>
      <vt:lpstr>Platypi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CH JAGRUTHI</dc:creator>
  <cp:lastModifiedBy>chandan Jagruthi</cp:lastModifiedBy>
  <cp:revision>2</cp:revision>
  <dcterms:created xsi:type="dcterms:W3CDTF">2026-02-18T19:25:33Z</dcterms:created>
  <dcterms:modified xsi:type="dcterms:W3CDTF">2026-02-18T19:45:36Z</dcterms:modified>
</cp:coreProperties>
</file>