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Archivo" panose="020B0604020202020204" charset="0"/>
      <p:regular r:id="rId14"/>
      <p:bold r:id="rId15"/>
      <p:italic r:id="rId16"/>
      <p:boldItalic r:id="rId17"/>
    </p:embeddedFont>
    <p:embeddedFont>
      <p:font typeface="Comic Sans MS" panose="030F0702030302020204" pitchFamily="66" charset="0"/>
      <p:regular r:id="rId18"/>
      <p:bold r:id="rId19"/>
      <p:italic r:id="rId20"/>
      <p:boldItalic r:id="rId21"/>
    </p:embeddedFont>
    <p:embeddedFont>
      <p:font typeface="Nunito Light" pitchFamily="2" charset="0"/>
      <p:regular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Quicksand" panose="020B0604020202020204" charset="0"/>
      <p:regular r:id="rId27"/>
      <p:bold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Rubik" panose="020B0604020202020204" charset="-79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font" Target="fonts/font27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17e178630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17e178630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51822890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51822890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156925db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156925db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04a4cece8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04a4cece8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56925db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156925db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04a4cece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04a4cece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7743836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17743836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yoMsr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11797" t="4034" r="11797" b="195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l="50432" t="3597" r="35591" b="57761"/>
          <a:stretch/>
        </p:blipFill>
        <p:spPr>
          <a:xfrm>
            <a:off x="0" y="0"/>
            <a:ext cx="33073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l="22777" t="52310" r="47069" b="10241"/>
          <a:stretch/>
        </p:blipFill>
        <p:spPr>
          <a:xfrm>
            <a:off x="1781525" y="1"/>
            <a:ext cx="73624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5">
            <a:alphaModFix/>
          </a:blip>
          <a:srcRect l="49111" r="17023" b="52961"/>
          <a:stretch/>
        </p:blipFill>
        <p:spPr>
          <a:xfrm flipH="1">
            <a:off x="3245573" y="535000"/>
            <a:ext cx="5898427" cy="46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6">
            <a:alphaModFix/>
          </a:blip>
          <a:srcRect l="55529" t="49347" r="26475" b="31318"/>
          <a:stretch/>
        </p:blipFill>
        <p:spPr>
          <a:xfrm flipH="1">
            <a:off x="2" y="0"/>
            <a:ext cx="2266598" cy="1369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15100" y="1052738"/>
            <a:ext cx="41337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15100" y="3426563"/>
            <a:ext cx="2671500" cy="6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l="11797" t="4034" r="11797" b="19559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 l="22777" t="52310" r="47069" b="10241"/>
          <a:stretch/>
        </p:blipFill>
        <p:spPr>
          <a:xfrm rot="10800000">
            <a:off x="0" y="0"/>
            <a:ext cx="73624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4">
            <a:alphaModFix/>
          </a:blip>
          <a:srcRect l="50432" t="3597" r="35591" b="57761"/>
          <a:stretch/>
        </p:blipFill>
        <p:spPr>
          <a:xfrm rot="10800000">
            <a:off x="5836699" y="1"/>
            <a:ext cx="33073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5">
            <a:alphaModFix/>
          </a:blip>
          <a:srcRect l="49111" t="13353" r="17023" b="52960"/>
          <a:stretch/>
        </p:blipFill>
        <p:spPr>
          <a:xfrm rot="10800000" flipH="1">
            <a:off x="0" y="0"/>
            <a:ext cx="5898427" cy="330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 hasCustomPrompt="1"/>
          </p:nvPr>
        </p:nvSpPr>
        <p:spPr>
          <a:xfrm flipH="1">
            <a:off x="4453825" y="1255988"/>
            <a:ext cx="1982700" cy="956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6">
            <a:alphaModFix/>
          </a:blip>
          <a:srcRect l="55529" t="49347" r="26475" b="31318"/>
          <a:stretch/>
        </p:blipFill>
        <p:spPr>
          <a:xfrm rot="10800000" flipH="1">
            <a:off x="6877400" y="3773700"/>
            <a:ext cx="2266598" cy="1369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ctrTitle" idx="2"/>
          </p:nvPr>
        </p:nvSpPr>
        <p:spPr>
          <a:xfrm>
            <a:off x="4453825" y="2212100"/>
            <a:ext cx="3975000" cy="17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473675"/>
            <a:ext cx="7704000" cy="18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715100" y="2972900"/>
            <a:ext cx="2995200" cy="16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715100" y="2571750"/>
            <a:ext cx="2995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4572007" y="2972900"/>
            <a:ext cx="2995200" cy="16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4572001" y="2571750"/>
            <a:ext cx="2995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6"/>
          <p:cNvPicPr preferRelativeResize="0"/>
          <p:nvPr/>
        </p:nvPicPr>
        <p:blipFill rotWithShape="1">
          <a:blip r:embed="rId3">
            <a:alphaModFix/>
          </a:blip>
          <a:srcRect l="39848" t="36025" r="43659" b="24386"/>
          <a:stretch/>
        </p:blipFill>
        <p:spPr>
          <a:xfrm flipH="1">
            <a:off x="7274425" y="0"/>
            <a:ext cx="1862525" cy="25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17648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5">
            <a:alphaModFix/>
          </a:blip>
          <a:srcRect l="58881" t="15009" r="27447" b="71019"/>
          <a:stretch/>
        </p:blipFill>
        <p:spPr>
          <a:xfrm>
            <a:off x="17650" y="3774725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l="40723" t="18453" r="16839" b="39076"/>
          <a:stretch/>
        </p:blipFill>
        <p:spPr>
          <a:xfrm>
            <a:off x="4806575" y="0"/>
            <a:ext cx="4568448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17648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 rotWithShape="1">
          <a:blip r:embed="rId5">
            <a:alphaModFix/>
          </a:blip>
          <a:srcRect l="58881" t="15009" r="27447" b="71019"/>
          <a:stretch/>
        </p:blipFill>
        <p:spPr>
          <a:xfrm>
            <a:off x="17650" y="3774725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715100" y="2385972"/>
            <a:ext cx="42351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570650" y="0"/>
            <a:ext cx="4042500" cy="51435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outerShdw blurRad="442913" dist="152400" dir="10200000" algn="bl" rotWithShape="0">
              <a:srgbClr val="000000">
                <a:alpha val="44000"/>
              </a:srgbClr>
            </a:outerShdw>
          </a:effectLst>
        </p:spPr>
      </p:sp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4235100" cy="1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>
            <a:spLocks noGrp="1"/>
          </p:cNvSpPr>
          <p:nvPr>
            <p:ph type="ctrTitle"/>
          </p:nvPr>
        </p:nvSpPr>
        <p:spPr>
          <a:xfrm>
            <a:off x="5715950" y="3820400"/>
            <a:ext cx="2712900" cy="810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 rotWithShape="1">
          <a:blip r:embed="rId2">
            <a:alphaModFix/>
          </a:blip>
          <a:srcRect l="11797" t="4034" r="11797" b="19559"/>
          <a:stretch/>
        </p:blipFill>
        <p:spPr>
          <a:xfrm rot="10800000" flipH="1"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 rotWithShape="1">
          <a:blip r:embed="rId3">
            <a:alphaModFix/>
          </a:blip>
          <a:srcRect l="50432" t="3597" r="35591" b="57761"/>
          <a:stretch/>
        </p:blipFill>
        <p:spPr>
          <a:xfrm rot="10800000" flipH="1">
            <a:off x="0" y="1"/>
            <a:ext cx="33073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1"/>
          <p:cNvPicPr preferRelativeResize="0"/>
          <p:nvPr/>
        </p:nvPicPr>
        <p:blipFill rotWithShape="1">
          <a:blip r:embed="rId4">
            <a:alphaModFix/>
          </a:blip>
          <a:srcRect l="22777" t="52310" r="47069" b="10241"/>
          <a:stretch/>
        </p:blipFill>
        <p:spPr>
          <a:xfrm rot="10800000" flipH="1">
            <a:off x="1781525" y="0"/>
            <a:ext cx="73624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1"/>
          <p:cNvPicPr preferRelativeResize="0"/>
          <p:nvPr/>
        </p:nvPicPr>
        <p:blipFill rotWithShape="1">
          <a:blip r:embed="rId5">
            <a:alphaModFix/>
          </a:blip>
          <a:srcRect l="49111" r="17023" b="52961"/>
          <a:stretch/>
        </p:blipFill>
        <p:spPr>
          <a:xfrm rot="10800000">
            <a:off x="3245573" y="0"/>
            <a:ext cx="5898427" cy="46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1"/>
          <p:cNvPicPr preferRelativeResize="0"/>
          <p:nvPr/>
        </p:nvPicPr>
        <p:blipFill rotWithShape="1">
          <a:blip r:embed="rId6">
            <a:alphaModFix/>
          </a:blip>
          <a:srcRect l="55529" t="49347" r="26475" b="31318"/>
          <a:stretch/>
        </p:blipFill>
        <p:spPr>
          <a:xfrm rot="10800000">
            <a:off x="2" y="3773702"/>
            <a:ext cx="2266598" cy="13697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>
            <a:spLocks noGrp="1"/>
          </p:cNvSpPr>
          <p:nvPr>
            <p:ph type="title" hasCustomPrompt="1"/>
          </p:nvPr>
        </p:nvSpPr>
        <p:spPr>
          <a:xfrm>
            <a:off x="715100" y="1715400"/>
            <a:ext cx="4062600" cy="9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>
            <a:off x="715100" y="2714700"/>
            <a:ext cx="2553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823025" y="155705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15050" y="199765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3" hasCustomPrompt="1"/>
          </p:nvPr>
        </p:nvSpPr>
        <p:spPr>
          <a:xfrm>
            <a:off x="3523650" y="155705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4"/>
          </p:nvPr>
        </p:nvSpPr>
        <p:spPr>
          <a:xfrm>
            <a:off x="3415675" y="199765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5" hasCustomPrompt="1"/>
          </p:nvPr>
        </p:nvSpPr>
        <p:spPr>
          <a:xfrm>
            <a:off x="6219375" y="155705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6"/>
          </p:nvPr>
        </p:nvSpPr>
        <p:spPr>
          <a:xfrm>
            <a:off x="6111400" y="199765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7" hasCustomPrompt="1"/>
          </p:nvPr>
        </p:nvSpPr>
        <p:spPr>
          <a:xfrm>
            <a:off x="823025" y="308280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715050" y="352340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9" hasCustomPrompt="1"/>
          </p:nvPr>
        </p:nvSpPr>
        <p:spPr>
          <a:xfrm>
            <a:off x="3523650" y="308280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3415675" y="352340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4" hasCustomPrompt="1"/>
          </p:nvPr>
        </p:nvSpPr>
        <p:spPr>
          <a:xfrm>
            <a:off x="6219375" y="3082800"/>
            <a:ext cx="542400" cy="447600"/>
          </a:xfrm>
          <a:prstGeom prst="rect">
            <a:avLst/>
          </a:prstGeom>
          <a:solidFill>
            <a:srgbClr val="E952FD">
              <a:alpha val="900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6111400" y="3523400"/>
            <a:ext cx="2095800" cy="7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715100" y="769475"/>
            <a:ext cx="3531600" cy="176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715100" y="2554525"/>
            <a:ext cx="3531600" cy="18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rabicPeriod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rabicPeriod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l="39848" t="36025" r="43659" b="24386"/>
          <a:stretch/>
        </p:blipFill>
        <p:spPr>
          <a:xfrm flipH="1">
            <a:off x="7274425" y="0"/>
            <a:ext cx="1862525" cy="25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17648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5">
            <a:alphaModFix/>
          </a:blip>
          <a:srcRect l="58881" t="15009" r="27447" b="71019"/>
          <a:stretch/>
        </p:blipFill>
        <p:spPr>
          <a:xfrm>
            <a:off x="17650" y="3774725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6015425" y="1881925"/>
            <a:ext cx="22689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p15"/>
          <p:cNvSpPr>
            <a:spLocks noGrp="1"/>
          </p:cNvSpPr>
          <p:nvPr>
            <p:ph type="pic" idx="2"/>
          </p:nvPr>
        </p:nvSpPr>
        <p:spPr>
          <a:xfrm>
            <a:off x="715100" y="512150"/>
            <a:ext cx="2835600" cy="41193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outerShdw blurRad="442913" dist="152400" dir="10200000" algn="bl" rotWithShape="0">
              <a:srgbClr val="000000">
                <a:alpha val="44000"/>
              </a:srgbClr>
            </a:outerShdw>
          </a:effectLst>
        </p:spPr>
      </p:sp>
      <p:sp>
        <p:nvSpPr>
          <p:cNvPr id="104" name="Google Shape;104;p15"/>
          <p:cNvSpPr>
            <a:spLocks noGrp="1"/>
          </p:cNvSpPr>
          <p:nvPr>
            <p:ph type="pic" idx="3"/>
          </p:nvPr>
        </p:nvSpPr>
        <p:spPr>
          <a:xfrm>
            <a:off x="3519200" y="512150"/>
            <a:ext cx="2158500" cy="22188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outerShdw blurRad="442913" dist="152400" dir="10200000" algn="bl" rotWithShape="0">
              <a:srgbClr val="000000">
                <a:alpha val="44000"/>
              </a:srgbClr>
            </a:outerShdw>
          </a:effectLst>
        </p:spPr>
      </p:sp>
      <p:sp>
        <p:nvSpPr>
          <p:cNvPr id="105" name="Google Shape;105;p15"/>
          <p:cNvSpPr>
            <a:spLocks noGrp="1"/>
          </p:cNvSpPr>
          <p:nvPr>
            <p:ph type="pic" idx="4"/>
          </p:nvPr>
        </p:nvSpPr>
        <p:spPr>
          <a:xfrm>
            <a:off x="3294550" y="2989490"/>
            <a:ext cx="5134500" cy="1641900"/>
          </a:xfrm>
          <a:prstGeom prst="parallelogram">
            <a:avLst>
              <a:gd name="adj" fmla="val 25000"/>
            </a:avLst>
          </a:prstGeom>
          <a:noFill/>
          <a:ln>
            <a:noFill/>
          </a:ln>
          <a:effectLst>
            <a:outerShdw blurRad="442913" dist="152400" dir="10200000" algn="bl" rotWithShape="0">
              <a:srgbClr val="000000">
                <a:alpha val="44000"/>
              </a:srgbClr>
            </a:outerShdw>
          </a:effectLst>
        </p:spPr>
      </p:sp>
      <p:sp>
        <p:nvSpPr>
          <p:cNvPr id="106" name="Google Shape;106;p15"/>
          <p:cNvSpPr txBox="1">
            <a:spLocks noGrp="1"/>
          </p:cNvSpPr>
          <p:nvPr>
            <p:ph type="ctrTitle"/>
          </p:nvPr>
        </p:nvSpPr>
        <p:spPr>
          <a:xfrm>
            <a:off x="6015425" y="683725"/>
            <a:ext cx="22689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1"/>
          </p:nvPr>
        </p:nvSpPr>
        <p:spPr>
          <a:xfrm>
            <a:off x="720000" y="1473675"/>
            <a:ext cx="3789300" cy="31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2"/>
          </p:nvPr>
        </p:nvSpPr>
        <p:spPr>
          <a:xfrm>
            <a:off x="4644652" y="1473675"/>
            <a:ext cx="3789300" cy="31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3">
            <a:alphaModFix/>
          </a:blip>
          <a:srcRect l="39848" t="36025" r="43659" b="24386"/>
          <a:stretch/>
        </p:blipFill>
        <p:spPr>
          <a:xfrm flipH="1">
            <a:off x="7274425" y="0"/>
            <a:ext cx="1862525" cy="25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17648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 rotWithShape="1">
          <a:blip r:embed="rId5">
            <a:alphaModFix/>
          </a:blip>
          <a:srcRect l="58881" t="15009" r="27447" b="71019"/>
          <a:stretch/>
        </p:blipFill>
        <p:spPr>
          <a:xfrm>
            <a:off x="17650" y="3774725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715100" y="2972900"/>
            <a:ext cx="2164200" cy="16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2"/>
          </p:nvPr>
        </p:nvSpPr>
        <p:spPr>
          <a:xfrm>
            <a:off x="715100" y="2571750"/>
            <a:ext cx="2164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3"/>
          </p:nvPr>
        </p:nvSpPr>
        <p:spPr>
          <a:xfrm>
            <a:off x="3363503" y="2972900"/>
            <a:ext cx="2164200" cy="16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4"/>
          </p:nvPr>
        </p:nvSpPr>
        <p:spPr>
          <a:xfrm>
            <a:off x="3363503" y="2571750"/>
            <a:ext cx="2164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5"/>
          </p:nvPr>
        </p:nvSpPr>
        <p:spPr>
          <a:xfrm>
            <a:off x="6011906" y="2972900"/>
            <a:ext cx="2164200" cy="16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subTitle" idx="6"/>
          </p:nvPr>
        </p:nvSpPr>
        <p:spPr>
          <a:xfrm>
            <a:off x="6011906" y="2571750"/>
            <a:ext cx="2164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2129650" y="1377125"/>
            <a:ext cx="62001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i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2"/>
          </p:nvPr>
        </p:nvSpPr>
        <p:spPr>
          <a:xfrm>
            <a:off x="2129650" y="1930300"/>
            <a:ext cx="62001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3"/>
          </p:nvPr>
        </p:nvSpPr>
        <p:spPr>
          <a:xfrm>
            <a:off x="2129650" y="2491675"/>
            <a:ext cx="62001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i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4"/>
          </p:nvPr>
        </p:nvSpPr>
        <p:spPr>
          <a:xfrm>
            <a:off x="2129650" y="3044850"/>
            <a:ext cx="62001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5"/>
          </p:nvPr>
        </p:nvSpPr>
        <p:spPr>
          <a:xfrm>
            <a:off x="2129650" y="3606225"/>
            <a:ext cx="6200100" cy="6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 i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subTitle" idx="6"/>
          </p:nvPr>
        </p:nvSpPr>
        <p:spPr>
          <a:xfrm>
            <a:off x="2129650" y="4159400"/>
            <a:ext cx="6200100" cy="4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>
            <a:spLocks noGrp="1"/>
          </p:cNvSpPr>
          <p:nvPr>
            <p:ph type="ctrTitle"/>
          </p:nvPr>
        </p:nvSpPr>
        <p:spPr>
          <a:xfrm>
            <a:off x="71505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1"/>
          </p:nvPr>
        </p:nvSpPr>
        <p:spPr>
          <a:xfrm>
            <a:off x="715050" y="1855975"/>
            <a:ext cx="31833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2"/>
          </p:nvPr>
        </p:nvSpPr>
        <p:spPr>
          <a:xfrm>
            <a:off x="715050" y="1454825"/>
            <a:ext cx="3183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3"/>
          </p:nvPr>
        </p:nvSpPr>
        <p:spPr>
          <a:xfrm>
            <a:off x="4572001" y="1855975"/>
            <a:ext cx="31833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subTitle" idx="4"/>
          </p:nvPr>
        </p:nvSpPr>
        <p:spPr>
          <a:xfrm>
            <a:off x="4572000" y="1454825"/>
            <a:ext cx="3183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subTitle" idx="5"/>
          </p:nvPr>
        </p:nvSpPr>
        <p:spPr>
          <a:xfrm>
            <a:off x="715050" y="3545300"/>
            <a:ext cx="31833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subTitle" idx="6"/>
          </p:nvPr>
        </p:nvSpPr>
        <p:spPr>
          <a:xfrm>
            <a:off x="715050" y="3144150"/>
            <a:ext cx="3183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ubTitle" idx="7"/>
          </p:nvPr>
        </p:nvSpPr>
        <p:spPr>
          <a:xfrm>
            <a:off x="4572001" y="3545300"/>
            <a:ext cx="31833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8"/>
          </p:nvPr>
        </p:nvSpPr>
        <p:spPr>
          <a:xfrm>
            <a:off x="4572000" y="3144150"/>
            <a:ext cx="31833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3">
            <a:alphaModFix/>
          </a:blip>
          <a:srcRect l="39848" t="36025" r="43659" b="24386"/>
          <a:stretch/>
        </p:blipFill>
        <p:spPr>
          <a:xfrm flipH="1">
            <a:off x="7274425" y="0"/>
            <a:ext cx="1862525" cy="25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17648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5">
            <a:alphaModFix/>
          </a:blip>
          <a:srcRect l="58881" t="15009" r="27447" b="71019"/>
          <a:stretch/>
        </p:blipFill>
        <p:spPr>
          <a:xfrm>
            <a:off x="17650" y="3774725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1"/>
          </p:nvPr>
        </p:nvSpPr>
        <p:spPr>
          <a:xfrm>
            <a:off x="715100" y="354580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2"/>
          </p:nvPr>
        </p:nvSpPr>
        <p:spPr>
          <a:xfrm>
            <a:off x="715100" y="314465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3"/>
          </p:nvPr>
        </p:nvSpPr>
        <p:spPr>
          <a:xfrm>
            <a:off x="3317489" y="354580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4"/>
          </p:nvPr>
        </p:nvSpPr>
        <p:spPr>
          <a:xfrm>
            <a:off x="3317496" y="314465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subTitle" idx="5"/>
          </p:nvPr>
        </p:nvSpPr>
        <p:spPr>
          <a:xfrm>
            <a:off x="5919879" y="354580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subTitle" idx="6"/>
          </p:nvPr>
        </p:nvSpPr>
        <p:spPr>
          <a:xfrm>
            <a:off x="5919891" y="314465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subTitle" idx="7"/>
          </p:nvPr>
        </p:nvSpPr>
        <p:spPr>
          <a:xfrm>
            <a:off x="715100" y="184797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ubTitle" idx="8"/>
          </p:nvPr>
        </p:nvSpPr>
        <p:spPr>
          <a:xfrm>
            <a:off x="715100" y="144682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subTitle" idx="9"/>
          </p:nvPr>
        </p:nvSpPr>
        <p:spPr>
          <a:xfrm>
            <a:off x="3317489" y="184797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subTitle" idx="13"/>
          </p:nvPr>
        </p:nvSpPr>
        <p:spPr>
          <a:xfrm>
            <a:off x="3317496" y="144682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subTitle" idx="14"/>
          </p:nvPr>
        </p:nvSpPr>
        <p:spPr>
          <a:xfrm>
            <a:off x="5919879" y="1847975"/>
            <a:ext cx="2320200" cy="8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15"/>
          </p:nvPr>
        </p:nvSpPr>
        <p:spPr>
          <a:xfrm>
            <a:off x="5919891" y="1446825"/>
            <a:ext cx="23202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 flipH="1">
            <a:off x="1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7287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>
            <a:off x="3220876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 flipH="1">
            <a:off x="4572000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35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 rotWithShape="1">
          <a:blip r:embed="rId2">
            <a:alphaModFix/>
          </a:blip>
          <a:srcRect l="11797" t="4034" r="11797" b="19559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l="50432" t="3597" r="35591" b="57761"/>
          <a:stretch/>
        </p:blipFill>
        <p:spPr>
          <a:xfrm flipH="1">
            <a:off x="5836699" y="0"/>
            <a:ext cx="33073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 rotWithShape="1">
          <a:blip r:embed="rId4">
            <a:alphaModFix/>
          </a:blip>
          <a:srcRect l="22777" t="52310" r="47069" b="10241"/>
          <a:stretch/>
        </p:blipFill>
        <p:spPr>
          <a:xfrm flipH="1">
            <a:off x="0" y="1"/>
            <a:ext cx="73624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 rotWithShape="1">
          <a:blip r:embed="rId5">
            <a:alphaModFix/>
          </a:blip>
          <a:srcRect l="49111" r="17023" b="52961"/>
          <a:stretch/>
        </p:blipFill>
        <p:spPr>
          <a:xfrm>
            <a:off x="0" y="535000"/>
            <a:ext cx="5898427" cy="46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6">
            <a:alphaModFix/>
          </a:blip>
          <a:srcRect l="55529" t="49347" r="26475" b="31318"/>
          <a:stretch/>
        </p:blipFill>
        <p:spPr>
          <a:xfrm>
            <a:off x="6199975" y="0"/>
            <a:ext cx="2944027" cy="17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>
            <a:spLocks noGrp="1"/>
          </p:cNvSpPr>
          <p:nvPr>
            <p:ph type="ctrTitle"/>
          </p:nvPr>
        </p:nvSpPr>
        <p:spPr>
          <a:xfrm>
            <a:off x="1582075" y="628000"/>
            <a:ext cx="5979900" cy="89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ubTitle" idx="1"/>
          </p:nvPr>
        </p:nvSpPr>
        <p:spPr>
          <a:xfrm>
            <a:off x="1582075" y="1526500"/>
            <a:ext cx="59799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2382325" y="3810000"/>
            <a:ext cx="43794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CREDITS: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including icons by </a:t>
            </a:r>
            <a:r>
              <a:rPr lang="en" sz="1000" b="1" u="sng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lang="en" sz="10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 and infographics &amp; images by </a:t>
            </a:r>
            <a:r>
              <a:rPr lang="en" sz="1000" b="1" u="sng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 l="22853" t="30735" r="27550" b="19562"/>
          <a:stretch/>
        </p:blipFill>
        <p:spPr>
          <a:xfrm rot="10800000">
            <a:off x="17626" y="0"/>
            <a:ext cx="9136949" cy="515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l="24609" t="28711" r="54524" b="50873"/>
          <a:stretch/>
        </p:blipFill>
        <p:spPr>
          <a:xfrm rot="5400000" flipH="1">
            <a:off x="7114800" y="573277"/>
            <a:ext cx="2628202" cy="144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 rotWithShape="1">
          <a:blip r:embed="rId4">
            <a:alphaModFix/>
          </a:blip>
          <a:srcRect l="21550" t="11547" r="54292" b="69315"/>
          <a:stretch/>
        </p:blipFill>
        <p:spPr>
          <a:xfrm flipH="1">
            <a:off x="35273" y="2514950"/>
            <a:ext cx="5898427" cy="26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 rotWithShape="1">
          <a:blip r:embed="rId5">
            <a:alphaModFix/>
          </a:blip>
          <a:srcRect l="45009" t="9786" r="28882" b="76242"/>
          <a:stretch/>
        </p:blipFill>
        <p:spPr>
          <a:xfrm>
            <a:off x="35277" y="3774725"/>
            <a:ext cx="4547299" cy="136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/>
          <p:cNvPicPr preferRelativeResize="0"/>
          <p:nvPr/>
        </p:nvPicPr>
        <p:blipFill rotWithShape="1">
          <a:blip r:embed="rId2">
            <a:alphaModFix/>
          </a:blip>
          <a:srcRect l="11797" t="4034" r="11797" b="1955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 rotWithShape="1">
          <a:blip r:embed="rId3">
            <a:alphaModFix/>
          </a:blip>
          <a:srcRect l="50432" t="3597" r="35591" b="57761"/>
          <a:stretch/>
        </p:blipFill>
        <p:spPr>
          <a:xfrm>
            <a:off x="0" y="0"/>
            <a:ext cx="33073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 rotWithShape="1">
          <a:blip r:embed="rId4">
            <a:alphaModFix/>
          </a:blip>
          <a:srcRect l="22777" t="52310" r="47069" b="10241"/>
          <a:stretch/>
        </p:blipFill>
        <p:spPr>
          <a:xfrm>
            <a:off x="1781525" y="1"/>
            <a:ext cx="73624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5">
            <a:alphaModFix/>
          </a:blip>
          <a:srcRect l="49111" r="17023" b="52961"/>
          <a:stretch/>
        </p:blipFill>
        <p:spPr>
          <a:xfrm flipH="1">
            <a:off x="3245573" y="535000"/>
            <a:ext cx="5898427" cy="46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 rotWithShape="1">
          <a:blip r:embed="rId6">
            <a:alphaModFix/>
          </a:blip>
          <a:srcRect l="55529" t="49347" r="26475" b="31318"/>
          <a:stretch/>
        </p:blipFill>
        <p:spPr>
          <a:xfrm flipH="1">
            <a:off x="2" y="0"/>
            <a:ext cx="2266598" cy="136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ubik"/>
              <a:buNone/>
              <a:defRPr sz="30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●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●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●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12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3c6c6c72254b901c608bacad40b85818d810628614a65086cd154d7db8a03eb9JmltdHM9MTc2MjQ3MzYwMA&amp;ptn=3&amp;ver=2&amp;hsh=4&amp;fclid=113cdf4c-d204-6e76-018c-c91cd3646fcc&amp;u=a1L2ltYWdlcy9zZWFyY2g_cT1tcmVjdytsb2dvJmlkPTY4ODM5RjUzREJCOTM1NUNCRDA1RTlBRDJBMzJCMUU5QkY1NjRDMjkmRk9STT1JUUZSQkE&amp;ntb=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ctrTitle"/>
          </p:nvPr>
        </p:nvSpPr>
        <p:spPr>
          <a:xfrm>
            <a:off x="704200" y="484875"/>
            <a:ext cx="5904900" cy="420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dirty="0">
                <a:solidFill>
                  <a:schemeClr val="dk1"/>
                </a:solidFill>
              </a:rPr>
              <a:t>IMPACT OF AI IN REAL LIFE</a:t>
            </a:r>
            <a:endParaRPr sz="4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</a:t>
            </a:r>
            <a:r>
              <a:rPr lang="en" sz="3500" dirty="0"/>
              <a:t>RESENTED BY:</a:t>
            </a:r>
            <a:endParaRPr sz="3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C.Jagruthi-45</a:t>
            </a:r>
            <a:endParaRPr sz="3500" dirty="0"/>
          </a:p>
        </p:txBody>
      </p:sp>
      <p:pic>
        <p:nvPicPr>
          <p:cNvPr id="1026" name="Picture 2">
            <a:hlinkClick r:id="rId3"/>
            <a:extLst>
              <a:ext uri="{FF2B5EF4-FFF2-40B4-BE49-F238E27FC236}">
                <a16:creationId xmlns:a16="http://schemas.microsoft.com/office/drawing/2014/main" id="{467B5F46-ED03-D970-CD82-D98B153CE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541" y="71834"/>
            <a:ext cx="2998005" cy="282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l="47976" t="7191" r="18940" b="7191"/>
          <a:stretch/>
        </p:blipFill>
        <p:spPr>
          <a:xfrm flipH="1">
            <a:off x="5610475" y="0"/>
            <a:ext cx="35335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ctrTitle"/>
          </p:nvPr>
        </p:nvSpPr>
        <p:spPr>
          <a:xfrm>
            <a:off x="715100" y="1052738"/>
            <a:ext cx="4133700" cy="22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</a:rPr>
              <a:t>AI 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Artificial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Intelligence</a:t>
            </a:r>
            <a:endParaRPr sz="4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 idx="4294967295"/>
          </p:nvPr>
        </p:nvSpPr>
        <p:spPr>
          <a:xfrm>
            <a:off x="2053200" y="-1612625"/>
            <a:ext cx="2518800" cy="14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 day working with me”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subTitle" idx="1"/>
          </p:nvPr>
        </p:nvSpPr>
        <p:spPr>
          <a:xfrm>
            <a:off x="6015425" y="1881925"/>
            <a:ext cx="22689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is something that works like your assistant and helps you complete your works and even gives you the suggestions</a:t>
            </a:r>
            <a:endParaRPr/>
          </a:p>
        </p:txBody>
      </p:sp>
      <p:pic>
        <p:nvPicPr>
          <p:cNvPr id="214" name="Google Shape;214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1702" t="4789" r="29140"/>
          <a:stretch/>
        </p:blipFill>
        <p:spPr>
          <a:xfrm>
            <a:off x="715100" y="512150"/>
            <a:ext cx="2835600" cy="4119300"/>
          </a:xfrm>
          <a:prstGeom prst="parallelogram">
            <a:avLst>
              <a:gd name="adj" fmla="val 15174"/>
            </a:avLst>
          </a:prstGeom>
        </p:spPr>
      </p:pic>
      <p:pic>
        <p:nvPicPr>
          <p:cNvPr id="215" name="Google Shape;215;p2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4">
            <a:alphaModFix/>
          </a:blip>
          <a:srcRect l="13519" r="13519"/>
          <a:stretch/>
        </p:blipFill>
        <p:spPr>
          <a:xfrm>
            <a:off x="3519200" y="512150"/>
            <a:ext cx="2158500" cy="2218800"/>
          </a:xfrm>
          <a:prstGeom prst="parallelogram">
            <a:avLst>
              <a:gd name="adj" fmla="val 11474"/>
            </a:avLst>
          </a:prstGeom>
        </p:spPr>
      </p:pic>
      <p:pic>
        <p:nvPicPr>
          <p:cNvPr id="216" name="Google Shape;216;p27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12698" b="44661"/>
          <a:stretch/>
        </p:blipFill>
        <p:spPr>
          <a:xfrm>
            <a:off x="3294550" y="2989490"/>
            <a:ext cx="5134500" cy="1641900"/>
          </a:xfrm>
          <a:prstGeom prst="parallelogram">
            <a:avLst>
              <a:gd name="adj" fmla="val 11947"/>
            </a:avLst>
          </a:prstGeom>
        </p:spPr>
      </p:pic>
      <p:sp>
        <p:nvSpPr>
          <p:cNvPr id="217" name="Google Shape;217;p27"/>
          <p:cNvSpPr txBox="1">
            <a:spLocks noGrp="1"/>
          </p:cNvSpPr>
          <p:nvPr>
            <p:ph type="ctrTitle"/>
          </p:nvPr>
        </p:nvSpPr>
        <p:spPr>
          <a:xfrm>
            <a:off x="6015425" y="683725"/>
            <a:ext cx="22689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partner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 rotWithShape="1">
          <a:blip r:embed="rId3">
            <a:alphaModFix/>
          </a:blip>
          <a:srcRect l="25001" t="10066" r="43402" b="26742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715100" y="1715400"/>
            <a:ext cx="5003100" cy="9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0">
                <a:latin typeface="Comic Sans MS"/>
                <a:ea typeface="Comic Sans MS"/>
                <a:cs typeface="Comic Sans MS"/>
                <a:sym typeface="Comic Sans MS"/>
              </a:rPr>
              <a:t>1,000,000,000</a:t>
            </a:r>
            <a:endParaRPr sz="103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4" name="Google Shape;224;p28"/>
          <p:cNvSpPr txBox="1">
            <a:spLocks noGrp="1"/>
          </p:cNvSpPr>
          <p:nvPr>
            <p:ph type="subTitle" idx="1"/>
          </p:nvPr>
        </p:nvSpPr>
        <p:spPr>
          <a:xfrm>
            <a:off x="715100" y="2714700"/>
            <a:ext cx="2553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1 billion people use AI across the world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ctrTitle"/>
          </p:nvPr>
        </p:nvSpPr>
        <p:spPr>
          <a:xfrm>
            <a:off x="715050" y="535000"/>
            <a:ext cx="7713900" cy="6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Is Everywhere: From Dawn to Dusk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b="0">
                <a:latin typeface="Quicksand"/>
                <a:ea typeface="Quicksand"/>
                <a:cs typeface="Quicksand"/>
                <a:sym typeface="Quicksand"/>
              </a:rPr>
              <a:t>Artificial Intelligence has seamlessly integrated into the fabric of our daily lives, often operating in the background to enhance convenience and efficiency.</a:t>
            </a:r>
            <a:endParaRPr sz="1300" b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4"/>
          </p:nvPr>
        </p:nvSpPr>
        <p:spPr>
          <a:xfrm>
            <a:off x="402175" y="2286000"/>
            <a:ext cx="2340000" cy="24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Smart Start</a:t>
            </a:r>
            <a:endParaRPr sz="2100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0">
                <a:latin typeface="Arial"/>
                <a:ea typeface="Arial"/>
                <a:cs typeface="Arial"/>
                <a:sym typeface="Arial"/>
              </a:rPr>
              <a:t>AI wakes you up gently with smart alarms, analyzing your sleep patterns to ensure you rise at the optimal moment (e.g., Sleep Cycle, Google Nest Hub).</a:t>
            </a: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231" name="Google Shape;231;p29"/>
          <p:cNvSpPr txBox="1">
            <a:spLocks noGrp="1"/>
          </p:cNvSpPr>
          <p:nvPr>
            <p:ph type="subTitle" idx="8"/>
          </p:nvPr>
        </p:nvSpPr>
        <p:spPr>
          <a:xfrm>
            <a:off x="2906875" y="2286000"/>
            <a:ext cx="2199000" cy="22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Digital Assistants</a:t>
            </a:r>
            <a:endParaRPr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0">
                <a:latin typeface="Arial"/>
                <a:ea typeface="Arial"/>
                <a:cs typeface="Arial"/>
                <a:sym typeface="Arial"/>
              </a:rPr>
              <a:t>Your smartphone’s digital assistants like Siri, Alexa, and Google Assistant simplify daily tasks and information retrieval through intuitive voice commands.</a:t>
            </a: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575" y="1909700"/>
            <a:ext cx="3551225" cy="26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ctrTitle"/>
          </p:nvPr>
        </p:nvSpPr>
        <p:spPr>
          <a:xfrm>
            <a:off x="715050" y="298675"/>
            <a:ext cx="7713900" cy="8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Smarter Travel: AI Navigates Your World</a:t>
            </a:r>
            <a:endParaRPr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4"/>
          </p:nvPr>
        </p:nvSpPr>
        <p:spPr>
          <a:xfrm>
            <a:off x="402175" y="1768600"/>
            <a:ext cx="2340000" cy="23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Real-Time Route Optimization</a:t>
            </a:r>
            <a:endParaRPr sz="1500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0">
                <a:latin typeface="Arial"/>
                <a:ea typeface="Arial"/>
                <a:cs typeface="Arial"/>
                <a:sym typeface="Arial"/>
              </a:rPr>
              <a:t>Navigation apps like Google Maps and Waze use predictive AI for real-time traffic updates and route optimization, saving users millions of hours daily in congestion.</a:t>
            </a: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900"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8"/>
          </p:nvPr>
        </p:nvSpPr>
        <p:spPr>
          <a:xfrm>
            <a:off x="2906875" y="1768600"/>
            <a:ext cx="2199000" cy="22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Enhanced Vehicle Safety</a:t>
            </a:r>
            <a:endParaRPr sz="1300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0">
                <a:latin typeface="Arial"/>
                <a:ea typeface="Arial"/>
                <a:cs typeface="Arial"/>
                <a:sym typeface="Arial"/>
              </a:rPr>
              <a:t>AI-powered safety features in modern cars, such as adaptive cruise control and lane assist, detect hazards and actively prevent accidents (e.g., EU-funded VI-DAS sensors).</a:t>
            </a:r>
            <a:endParaRPr sz="1200" b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8275" y="1486375"/>
            <a:ext cx="3733324" cy="28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ctrTitle"/>
          </p:nvPr>
        </p:nvSpPr>
        <p:spPr>
          <a:xfrm>
            <a:off x="715100" y="794425"/>
            <a:ext cx="3531600" cy="176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Revolutionizing Healthcare with AI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715100" y="2395925"/>
            <a:ext cx="3367800" cy="19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Diagnostic Precision</a:t>
            </a:r>
            <a:endParaRPr sz="2100" b="1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Quicksand"/>
                <a:ea typeface="Quicksand"/>
                <a:cs typeface="Quicksand"/>
                <a:sym typeface="Quicksand"/>
              </a:rPr>
              <a:t>AI algorithms analyze complex medical images with exceptional precision, aiding in the early diagnosis of critical conditions like cancer and neurological diseases.</a:t>
            </a:r>
            <a:endParaRPr sz="13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4829000" y="736025"/>
            <a:ext cx="3953100" cy="3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Open Sans"/>
                <a:ea typeface="Open Sans"/>
                <a:cs typeface="Open Sans"/>
                <a:sym typeface="Open Sans"/>
              </a:rPr>
              <a:t>AI Tech Strategy</a:t>
            </a: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700" y="322200"/>
            <a:ext cx="4774998" cy="463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ctrTitle"/>
          </p:nvPr>
        </p:nvSpPr>
        <p:spPr>
          <a:xfrm>
            <a:off x="715100" y="794425"/>
            <a:ext cx="3531600" cy="176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Revolutionizing Healthcare with AI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715100" y="2395925"/>
            <a:ext cx="3531600" cy="19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Streamlined Patient Care</a:t>
            </a:r>
            <a:endParaRPr sz="2100" b="1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Quicksand"/>
                <a:ea typeface="Quicksand"/>
                <a:cs typeface="Quicksand"/>
                <a:sym typeface="Quicksand"/>
              </a:rPr>
              <a:t>AI-powered chatbots and virtual assistants handle scheduling, answer common queries, and streamline various administrative tasks in healthcare settings.</a:t>
            </a:r>
            <a:endParaRPr sz="13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5305437" y="1482554"/>
            <a:ext cx="7551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6" name="Google Shape;25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575" y="616175"/>
            <a:ext cx="4211026" cy="3974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body" idx="1"/>
          </p:nvPr>
        </p:nvSpPr>
        <p:spPr>
          <a:xfrm>
            <a:off x="715100" y="1671400"/>
            <a:ext cx="4471500" cy="23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helps students know and understand about new things 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AI is helpful for students by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providing personalized learning experiences, offering 24/7 access to tutoring and support, and accelerating learning through instant feedback and by streamlining research and content comprehension.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It can also act as a creative partner for idea generation and assist students with disabilities through adaptive tools and assistive technologies. </a:t>
            </a:r>
            <a:endParaRPr/>
          </a:p>
        </p:txBody>
      </p:sp>
      <p:pic>
        <p:nvPicPr>
          <p:cNvPr id="262" name="Google Shape;262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016" t="4462" r="3025" b="15856"/>
          <a:stretch/>
        </p:blipFill>
        <p:spPr>
          <a:xfrm>
            <a:off x="5570650" y="0"/>
            <a:ext cx="4042500" cy="5143500"/>
          </a:xfrm>
          <a:prstGeom prst="parallelogram">
            <a:avLst>
              <a:gd name="adj" fmla="val 10676"/>
            </a:avLst>
          </a:prstGeom>
        </p:spPr>
      </p:pic>
      <p:sp>
        <p:nvSpPr>
          <p:cNvPr id="263" name="Google Shape;263;p33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4235100" cy="8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 for students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971" t="13550" b="24174"/>
          <a:stretch/>
        </p:blipFill>
        <p:spPr>
          <a:xfrm>
            <a:off x="0" y="0"/>
            <a:ext cx="9144003" cy="5143503"/>
          </a:xfrm>
          <a:prstGeom prst="rect">
            <a:avLst/>
          </a:prstGeom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4">
            <a:alphaModFix/>
          </a:blip>
          <a:srcRect l="58881" t="15009" r="27447" b="71019"/>
          <a:stretch/>
        </p:blipFill>
        <p:spPr>
          <a:xfrm>
            <a:off x="0" y="3774726"/>
            <a:ext cx="2381251" cy="1368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ctrTitle"/>
          </p:nvPr>
        </p:nvSpPr>
        <p:spPr>
          <a:xfrm>
            <a:off x="5787800" y="2857800"/>
            <a:ext cx="2861400" cy="1457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US WHO HAS TO RULE THE WORLD WITH AI ; NOT LET AI RULE US INSTEAD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5">
            <a:alphaModFix/>
          </a:blip>
          <a:srcRect l="39848" t="36025" r="43659" b="39216"/>
          <a:stretch/>
        </p:blipFill>
        <p:spPr>
          <a:xfrm flipH="1">
            <a:off x="7274425" y="0"/>
            <a:ext cx="1862525" cy="157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body" idx="1"/>
          </p:nvPr>
        </p:nvSpPr>
        <p:spPr>
          <a:xfrm>
            <a:off x="3077900" y="2472572"/>
            <a:ext cx="42351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E06666"/>
                </a:solidFill>
              </a:rPr>
              <a:t>Hope you all liked it</a:t>
            </a:r>
            <a:endParaRPr sz="2300">
              <a:solidFill>
                <a:srgbClr val="E06666"/>
              </a:solidFill>
            </a:endParaRPr>
          </a:p>
        </p:txBody>
      </p:sp>
      <p:sp>
        <p:nvSpPr>
          <p:cNvPr id="277" name="Google Shape;277;p35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6597900" cy="1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latin typeface="Comic Sans MS"/>
                <a:ea typeface="Comic Sans MS"/>
                <a:cs typeface="Comic Sans MS"/>
                <a:sym typeface="Comic Sans MS"/>
              </a:rPr>
              <a:t>       THANK </a:t>
            </a:r>
            <a:endParaRPr sz="5500"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latin typeface="Comic Sans MS"/>
                <a:ea typeface="Comic Sans MS"/>
                <a:cs typeface="Comic Sans MS"/>
                <a:sym typeface="Comic Sans MS"/>
              </a:rPr>
              <a:t>         YOU</a:t>
            </a:r>
            <a:endParaRPr sz="55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Social Media Strategy by Slidesgo">
  <a:themeElements>
    <a:clrScheme name="Simple Light">
      <a:dk1>
        <a:srgbClr val="E952FD"/>
      </a:dk1>
      <a:lt1>
        <a:srgbClr val="FFFFFF"/>
      </a:lt1>
      <a:dk2>
        <a:srgbClr val="16193C"/>
      </a:dk2>
      <a:lt2>
        <a:srgbClr val="4E48AB"/>
      </a:lt2>
      <a:accent1>
        <a:srgbClr val="42FFB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375</Words>
  <Application>Microsoft Office PowerPoint</Application>
  <PresentationFormat>On-screen Show (16:9)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Roboto</vt:lpstr>
      <vt:lpstr>Open Sans</vt:lpstr>
      <vt:lpstr>Quicksand</vt:lpstr>
      <vt:lpstr>Rubik</vt:lpstr>
      <vt:lpstr>Comic Sans MS</vt:lpstr>
      <vt:lpstr>Raleway</vt:lpstr>
      <vt:lpstr>Archivo</vt:lpstr>
      <vt:lpstr>Nunito Light</vt:lpstr>
      <vt:lpstr>AI Tech Social Media Strategy by Slidesgo</vt:lpstr>
      <vt:lpstr>IMPACT OF AI IN REAL LIFE  PRESENTED BY: C.Jagruthi-45</vt:lpstr>
      <vt:lpstr>AI  Artificial Intelligence</vt:lpstr>
      <vt:lpstr>“A day working with me”</vt:lpstr>
      <vt:lpstr>1,000,000,000</vt:lpstr>
      <vt:lpstr>AI Is Everywhere: From Dawn to Dusk Artificial Intelligence has seamlessly integrated into the fabric of our daily lives, often operating in the background to enhance convenience and efficiency.  </vt:lpstr>
      <vt:lpstr>Smarter Travel: AI Navigates Your World    </vt:lpstr>
      <vt:lpstr>Revolutionizing Healthcare with AI </vt:lpstr>
      <vt:lpstr>Revolutionizing Healthcare with AI </vt:lpstr>
      <vt:lpstr>AI for students</vt:lpstr>
      <vt:lpstr>IT’S US WHO HAS TO RULE THE WORLD WITH AI ; NOT LET AI RULE US INSTEAD</vt:lpstr>
      <vt:lpstr>       THANK        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chandan Jagruthi</cp:lastModifiedBy>
  <cp:revision>3</cp:revision>
  <dcterms:modified xsi:type="dcterms:W3CDTF">2025-11-14T17:40:44Z</dcterms:modified>
</cp:coreProperties>
</file>